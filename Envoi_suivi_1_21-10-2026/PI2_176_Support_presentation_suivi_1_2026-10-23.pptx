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400" b="1">
                <a:solidFill>
                  <a:srgbClr val="111111"/>
                </a:solidFill>
                <a:latin typeface="Arial"/>
              </a:defRPr>
            </a:pPr>
            <a:r>
              <a:t>Projet PI² n°176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4984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000" b="1">
                <a:solidFill>
                  <a:srgbClr val="111111"/>
                </a:solidFill>
                <a:latin typeface="Arial"/>
              </a:defRPr>
            </a:pPr>
            <a:r>
              <a:t>Estimation et dynamique des distributions risque-neutres</a:t>
            </a:r>
            <a:br/>
            <a:r>
              <a:t>à partir d’options SPX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0">
                <a:solidFill>
                  <a:srgbClr val="315B78"/>
                </a:solidFill>
                <a:latin typeface="Arial"/>
              </a:defRPr>
            </a:pPr>
            <a:r>
              <a:t>Réunion de suivi n°1  ·  23 octobre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27313A"/>
                </a:solidFill>
                <a:latin typeface="Arial"/>
              </a:defRPr>
            </a:pPr>
            <a:r>
              <a:t>Rayan Ait Arkoub  ·  Matthieu Balliste  ·  Ilan Chahdi  ·  Nathan Denoux  ·  Jordi Paris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85232"/>
            <a:ext cx="10332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0">
                <a:solidFill>
                  <a:srgbClr val="59636C"/>
                </a:solidFill>
                <a:latin typeface="Arial"/>
              </a:defRPr>
            </a:pPr>
            <a:r>
              <a:t>Tuteur : Matthieu Garcin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1. Question de recherche et protocole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2/11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70432"/>
            <a:ext cx="1060704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300" b="1">
                <a:solidFill>
                  <a:srgbClr val="111111"/>
                </a:solidFill>
                <a:latin typeface="Arial"/>
              </a:defRPr>
            </a:pPr>
            <a:r>
              <a:t>Peut-on prévoir une densité risque-neutre suffisamment stable pour améliorer la valorisation ou la couverture d’options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38328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900" b="1">
                <a:solidFill>
                  <a:srgbClr val="111111"/>
                </a:solidFill>
                <a:latin typeface="Arial"/>
              </a:defRPr>
            </a:pPr>
            <a:r>
              <a:t>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3832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315B78"/>
                </a:solidFill>
                <a:latin typeface="Arial"/>
              </a:defRPr>
            </a:pPr>
            <a:r>
              <a:t>Cotations SPX → smile commune → RND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3832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27313A"/>
                </a:solidFill>
                <a:latin typeface="Arial"/>
              </a:defRPr>
            </a:pPr>
            <a:r>
              <a:t>Breeden–Litzenberger</a:t>
            </a:r>
            <a:br/>
            <a:r>
              <a:t>COS</a:t>
            </a:r>
            <a:br/>
            <a:r>
              <a:t>Repondération entropique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331720"/>
            <a:ext cx="338328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900" b="1">
                <a:solidFill>
                  <a:srgbClr val="111111"/>
                </a:solidFill>
                <a:latin typeface="Arial"/>
              </a:defRPr>
            </a:pPr>
            <a:r>
              <a:t>Dynamique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88920"/>
            <a:ext cx="33832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315B78"/>
                </a:solidFill>
                <a:latin typeface="Arial"/>
              </a:defRPr>
            </a:pPr>
            <a:r>
              <a:t>RND quotidiennes à maturité constante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520440"/>
            <a:ext cx="33832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27313A"/>
                </a:solidFill>
                <a:latin typeface="Arial"/>
              </a:defRPr>
            </a:pPr>
            <a:r>
              <a:t>Distances entre densités</a:t>
            </a:r>
            <a:br/>
            <a:r>
              <a:t>Facteurs fonctionnels</a:t>
            </a:r>
            <a:br/>
            <a:r>
              <a:t>Prévision AR/VAR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331720"/>
            <a:ext cx="338328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900" b="1">
                <a:solidFill>
                  <a:srgbClr val="111111"/>
                </a:solidFill>
                <a:latin typeface="Arial"/>
              </a:defRPr>
            </a:pPr>
            <a:r>
              <a:t>Évaluation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788920"/>
            <a:ext cx="33832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315B78"/>
                </a:solidFill>
                <a:latin typeface="Arial"/>
              </a:defRPr>
            </a:pPr>
            <a:r>
              <a:t>Prévisions hors échantillon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3520440"/>
            <a:ext cx="33832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27313A"/>
                </a:solidFill>
                <a:latin typeface="Arial"/>
              </a:defRPr>
            </a:pPr>
            <a:r>
              <a:t>Erreur de pricing</a:t>
            </a:r>
            <a:br/>
            <a:r>
              <a:t>Erreur de couverture</a:t>
            </a:r>
            <a:br/>
            <a:r>
              <a:t>Coûts de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Arial"/>
              </a:defRPr>
            </a:pPr>
            <a:r>
              <a:t>Jalon actuel : pipeline reproductible sur une date et diagnostic de la structure par terme.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2. Données Cboe et règles de filtrage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3/11</a:t>
            </a:r>
          </a:p>
        </p:txBody>
      </p:sp>
      <p:pic>
        <p:nvPicPr>
          <p:cNvPr id="6" name="Picture 5" descr="01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9388"/>
            <a:ext cx="7086600" cy="26963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127" y="1170432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1 446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1197864"/>
            <a:ext cx="21031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contrats SPX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673352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1 277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1700784"/>
            <a:ext cx="21031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cotations valides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2176272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338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203703"/>
            <a:ext cx="21031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points de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679192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91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706624"/>
            <a:ext cx="210312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échéance du 15/01/2027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337560"/>
            <a:ext cx="3840480" cy="224028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Mid bid–ask plutôt que dernier prix parfois ancien.</a:t>
            </a:r>
          </a:p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Exclusion : bid nul, marché croisé, mid &lt; 0,05 et spread relatif &gt; 35 %.</a:t>
            </a:r>
          </a:p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Cboe gratuit : prototype ponctuel ; Bloomberg : historique et stratégie.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61888"/>
            <a:ext cx="6583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59636C"/>
                </a:solidFill>
                <a:latin typeface="Arial"/>
              </a:defRPr>
            </a:pPr>
            <a:r>
              <a:t>Snapshot Cboe différé du 16/10/2026 à 17:12:17.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3. Identités théoriques utilisées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4/11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Prix du call sous la mesure risque-neutre</a:t>
            </a:r>
          </a:p>
        </p:txBody>
      </p:sp>
      <p:pic>
        <p:nvPicPr>
          <p:cNvPr id="7" name="Picture 6" descr="eq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615" y="1389888"/>
            <a:ext cx="569828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Estimation conjointe du forward et de l’actualisation</a:t>
            </a:r>
          </a:p>
        </p:txBody>
      </p:sp>
      <p:pic>
        <p:nvPicPr>
          <p:cNvPr id="9" name="Picture 8" descr="eq_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2633472"/>
            <a:ext cx="7242048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593592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Extraction de la densité</a:t>
            </a:r>
          </a:p>
        </p:txBody>
      </p:sp>
      <p:pic>
        <p:nvPicPr>
          <p:cNvPr id="11" name="Picture 10" descr="eq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19" y="3895344"/>
            <a:ext cx="3322280" cy="713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4937760"/>
            <a:ext cx="10241280" cy="109728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Options européennes, même sous-jacent et même échéance.</a:t>
            </a:r>
          </a:p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La convexité de C(K,T) garantit q(K,T) ≥ 0 en absence d’arbitrage.</a:t>
            </a:r>
          </a:p>
          <a:p>
            <a:pPr>
              <a:spcAft>
                <a:spcPts val="1000"/>
              </a:spcAft>
              <a:defRPr sz="1400">
                <a:solidFill>
                  <a:srgbClr val="27313A"/>
                </a:solidFill>
                <a:latin typeface="Arial"/>
              </a:defRPr>
            </a:pPr>
            <a:r>
              <a:t>• La double dérivation impose de lisser avant de dériver.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4. Une smile commune : calibration SVI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5/11</a:t>
            </a:r>
          </a:p>
        </p:txBody>
      </p:sp>
      <p:pic>
        <p:nvPicPr>
          <p:cNvPr id="6" name="Picture 5" descr="02_svi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0741"/>
            <a:ext cx="6583680" cy="3673597"/>
          </a:xfrm>
          <a:prstGeom prst="rect">
            <a:avLst/>
          </a:prstGeom>
        </p:spPr>
      </p:pic>
      <p:pic>
        <p:nvPicPr>
          <p:cNvPr id="7" name="Picture 6" descr="eq_s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2627"/>
            <a:ext cx="4892040" cy="36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331720"/>
            <a:ext cx="4434840" cy="306324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Un seul vecteur de cinq paramètres pour les 338 options.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F = 7,755.89 ; D = 0.98837 ; r = 4.69 %.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RMSE de parité = 0.118 point.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RMSE de reconstruction = 1.144 point.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ρ = -0.051 ; σ = 0.268.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1060704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/>
              </a:defRPr>
            </a:pPr>
            <a:r>
              <a:t>SVI lisse la coupe ; Breeden–Litzenberger reste la méthode d’extraction.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5. De la courbe de calls à la RND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6/11</a:t>
            </a:r>
          </a:p>
        </p:txBody>
      </p:sp>
      <p:pic>
        <p:nvPicPr>
          <p:cNvPr id="6" name="Picture 5" descr="03_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22700"/>
            <a:ext cx="5669280" cy="3163375"/>
          </a:xfrm>
          <a:prstGeom prst="rect">
            <a:avLst/>
          </a:prstGeom>
        </p:spPr>
      </p:pic>
      <p:pic>
        <p:nvPicPr>
          <p:cNvPr id="7" name="Picture 6" descr="04_risk_neutral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24578"/>
            <a:ext cx="5669280" cy="31596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212080"/>
            <a:ext cx="5303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59636C"/>
                </a:solidFill>
                <a:latin typeface="Arial"/>
              </a:defRPr>
            </a:pPr>
            <a:r>
              <a:t>Courbe de calls reconstruite sur 1 601 strikes.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212080"/>
            <a:ext cx="5303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59636C"/>
                </a:solidFill>
                <a:latin typeface="Arial"/>
              </a:defRPr>
            </a:pPr>
            <a:r>
              <a:t>Densité obtenue par dérivée seconde de la courbe lissée.</a:t>
            </a:r>
          </a:p>
        </p:txBody>
      </p:sp>
      <p:pic>
        <p:nvPicPr>
          <p:cNvPr id="10" name="Picture 9" descr="eq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553" y="5550408"/>
            <a:ext cx="2470413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6. Diagnostics de la RND à 91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7/11</a:t>
            </a:r>
          </a:p>
        </p:txBody>
      </p:sp>
      <p:pic>
        <p:nvPicPr>
          <p:cNvPr id="6" name="Picture 5" descr="07_support_and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6513"/>
            <a:ext cx="7772400" cy="27049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94192" y="1234440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0.99528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82912" y="1261872"/>
            <a:ext cx="2148839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masse brute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847088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0.000117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2912" y="1874519"/>
            <a:ext cx="2148839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masse négative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459736"/>
            <a:ext cx="11430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+20.31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2487168"/>
            <a:ext cx="2148839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9636C"/>
                </a:solidFill>
                <a:latin typeface="Arial"/>
              </a:defRPr>
            </a:pPr>
            <a:r>
              <a:t>moyenne −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246120"/>
            <a:ext cx="3566160" cy="214884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Aucune négativité matérielle au-delà de 0,1 % du pic.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0,47 % de masse manque principalement dans la queue gauche.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Le support fini interdit d’interpréter les queues sans test de robustesse.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9728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A33A32"/>
                </a:solidFill>
                <a:latin typeface="Arial"/>
              </a:defRPr>
            </a:pPr>
            <a:r>
              <a:t>Diagnostic, pas correction définitive : eSSVI ou lissage convexe à comparer.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7. Structure par terme : six maturités, une seule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8/11</a:t>
            </a:r>
          </a:p>
        </p:txBody>
      </p:sp>
      <p:pic>
        <p:nvPicPr>
          <p:cNvPr id="6" name="Picture 5" descr="05_rnd_surface_3d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80" y="932688"/>
            <a:ext cx="5795319" cy="5413248"/>
          </a:xfrm>
          <a:prstGeom prst="rect">
            <a:avLst/>
          </a:prstGeom>
        </p:spPr>
      </p:pic>
      <p:pic>
        <p:nvPicPr>
          <p:cNvPr id="7" name="Picture 6" descr="eq_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84961"/>
            <a:ext cx="3429000" cy="5207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2148840"/>
            <a:ext cx="3246120" cy="356616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31, 63, 91, 126, 154 et 182 jours.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Grille commune de log-moneyness.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Élargissement de la densité avec l’horizon.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Lignes noires : coupes calibrées ; surface : interpolation visuelle PCHIP.</a:t>
            </a:r>
          </a:p>
          <a:p>
            <a:pPr>
              <a:spcAft>
                <a:spcPts val="1000"/>
              </a:spcAft>
              <a:defRPr sz="1300">
                <a:solidFill>
                  <a:srgbClr val="27313A"/>
                </a:solidFill>
                <a:latin typeface="Arial"/>
              </a:defRPr>
            </a:pPr>
            <a:r>
              <a:t>• Ce n’est pas encore une dynamique temporelle.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8. Toutes les maturités ne sont pas également 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9/11</a:t>
            </a:r>
          </a:p>
        </p:txBody>
      </p:sp>
      <p:pic>
        <p:nvPicPr>
          <p:cNvPr id="6" name="Picture 5" descr="06_rnd_heatmap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50556"/>
            <a:ext cx="5577840" cy="3082567"/>
          </a:xfrm>
          <a:prstGeom prst="rect">
            <a:avLst/>
          </a:prstGeom>
        </p:spPr>
      </p:pic>
      <p:pic>
        <p:nvPicPr>
          <p:cNvPr id="7" name="Picture 6" descr="08_term_structure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53894"/>
            <a:ext cx="5989320" cy="2275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705856"/>
            <a:ext cx="108356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A33A32"/>
                </a:solidFill>
                <a:latin typeface="Arial"/>
              </a:defRPr>
            </a:pPr>
            <a:r>
              <a:t>La coupe 31 jours est conservée pour le diagnostic, mais exclue des conclusions : masse 1,138 et moyenne 5,4 % au-dessus du forward.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9. Passage à la dynamique et test de 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10/11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303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11111"/>
                </a:solidFill>
                <a:latin typeface="Arial"/>
              </a:defRPr>
            </a:pPr>
            <a:r>
              <a:t>Réduction fonctionnelle</a:t>
            </a:r>
          </a:p>
        </p:txBody>
      </p:sp>
      <p:pic>
        <p:nvPicPr>
          <p:cNvPr id="7" name="Picture 6" descr="eq_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83" y="1481328"/>
            <a:ext cx="3353912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1097280"/>
            <a:ext cx="5303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11111"/>
                </a:solidFill>
                <a:latin typeface="Arial"/>
              </a:defRPr>
            </a:pPr>
            <a:r>
              <a:t>Prévision des scores</a:t>
            </a:r>
          </a:p>
        </p:txBody>
      </p:sp>
      <p:pic>
        <p:nvPicPr>
          <p:cNvPr id="9" name="Picture 8" descr="eq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824" y="1481328"/>
            <a:ext cx="2656270" cy="749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43200"/>
            <a:ext cx="5257800" cy="214884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Une RND quotidienne à maturité constante, extraite de l’historique Bloomberg.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Comparaison : marche aléatoire fonctionnelle, AR et VAR.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Distances : Jensen–Shannon, Wasserstein et erreur de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2743200"/>
            <a:ext cx="5212080" cy="214884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Couverture RND courante vs RND prévue vs Black–Scholes.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Évaluation hors échantillon : erreur de couverture, variance, drawdown.</a:t>
            </a:r>
          </a:p>
          <a:p>
            <a:pPr>
              <a:spcAft>
                <a:spcPts val="1000"/>
              </a:spcAft>
              <a:defRPr sz="1500">
                <a:solidFill>
                  <a:srgbClr val="27313A"/>
                </a:solidFill>
                <a:latin typeface="Arial"/>
              </a:defRPr>
            </a:pPr>
            <a:r>
              <a:t>• Résultats nets des coûts de transaction.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96128"/>
            <a:ext cx="10149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11111"/>
                </a:solidFill>
                <a:latin typeface="Arial"/>
              </a:defRPr>
            </a:pPr>
            <a:r>
              <a:t>Cboe gratuit pour le prototype ; Bloomberg pour l’historique et le backtest.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109960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11111"/>
                </a:solidFill>
                <a:latin typeface="Arial"/>
              </a:defRPr>
            </a:pPr>
            <a:r>
              <a:t>10. Résultats acquis et prochain jalon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636C"/>
                </a:solidFill>
                <a:latin typeface="Arial"/>
              </a:defRPr>
            </a:pPr>
            <a:r>
              <a:t>Projet PI² n°176  ·  Suivi n°1  ·  23 octobre 2026                                      11/11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Acquis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5120640" cy="352044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Chaîne SPX réelle nettoyée et documentée.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Forward, actualisation et SVI estimés sur 338 points.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RND Breeden–Litzenberger contrôlée à 91 jours.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Structure par terme et limites identifiées.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Python–Julia : écart moyen 3,4 × 10⁻⁹ ; maximum 2,2 × 10⁻⁶.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43000"/>
            <a:ext cx="5029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Prochain jalon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19072"/>
            <a:ext cx="5074920" cy="2971800"/>
          </a:xfrm>
          <a:prstGeom prst="rect">
            <a:avLst/>
          </a:prstGeom>
          <a:noFill/>
        </p:spPr>
        <p:txBody>
          <a:bodyPr wrap="square" lIns="18288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Sécuriser l’export historique Bloomberg.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Construire les RND à maturité constante.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Comparer BL, COS et repondération entropique.</a:t>
            </a:r>
          </a:p>
          <a:p>
            <a:pPr>
              <a:spcAft>
                <a:spcPts val="1000"/>
              </a:spcAft>
              <a:defRPr sz="1600">
                <a:solidFill>
                  <a:srgbClr val="27313A"/>
                </a:solidFill>
                <a:latin typeface="Arial"/>
              </a:defRPr>
            </a:pPr>
            <a:r>
              <a:t>• Estimer les facteurs puis réaliser le backtest.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287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315B78"/>
                </a:solidFill>
                <a:latin typeface="Arial"/>
              </a:defRPr>
            </a:pPr>
            <a:r>
              <a:t>Décision attendue : horizon constant retenu et protocole d’accès Bloomberg.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