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000">
                <a:solidFill>
                  <a:srgbClr val="153A5B"/>
                </a:solidFill>
                <a:latin typeface="Arial"/>
              </a:defRPr>
            </a:pPr>
            <a:r>
              <a:t>Projet PI² n°176</a:t>
            </a:r>
          </a:p>
          <a:p>
            <a:pPr algn="ctr">
              <a:spcBef>
                <a:spcPts val="1000"/>
              </a:spcBef>
              <a:defRPr b="1" sz="2300">
                <a:solidFill>
                  <a:srgbClr val="153A5B"/>
                </a:solidFill>
                <a:latin typeface="Arial"/>
              </a:defRPr>
            </a:pPr>
            <a:r>
              <a:t>Dynamic of RND and Forecasting the Price of Derivatives</a:t>
            </a:r>
          </a:p>
          <a:p>
            <a:pPr algn="ctr">
              <a:spcBef>
                <a:spcPts val="1800"/>
              </a:spcBef>
              <a:defRPr sz="1700">
                <a:solidFill>
                  <a:srgbClr val="168AAD"/>
                </a:solidFill>
                <a:latin typeface="Arial"/>
              </a:defRPr>
            </a:pPr>
            <a:r>
              <a:t>Réunion de suivi n°1 — 23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690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4323D"/>
                </a:solidFill>
                <a:latin typeface="Arial"/>
              </a:defRPr>
            </a:pPr>
            <a:r>
              <a:t>Rayan Ait Arkoub · Matthieu Balliste · Ilan Chahdi · Nathan Denoux · Jordi Paris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1.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212080" cy="4297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4323D"/>
                </a:solidFill>
                <a:latin typeface="Arial"/>
              </a:defRPr>
            </a:pPr>
            <a:r>
              <a:t>• Une volatilité Black–Scholes unique ne reproduit pas toute la chaîne d’options.</a:t>
            </a:r>
          </a:p>
          <a:p>
            <a:pPr>
              <a:spcAft>
                <a:spcPts val="1000"/>
              </a:spcAft>
              <a:defRPr sz="2000">
                <a:solidFill>
                  <a:srgbClr val="24323D"/>
                </a:solidFill>
                <a:latin typeface="Arial"/>
              </a:defRPr>
            </a:pPr>
            <a:r>
              <a:t>• Chaque volatilité implicite ajuste un contrat, mais le smile exige une distribution commune.</a:t>
            </a:r>
          </a:p>
          <a:p>
            <a:pPr>
              <a:spcAft>
                <a:spcPts val="1000"/>
              </a:spcAft>
              <a:defRPr sz="2000">
                <a:solidFill>
                  <a:srgbClr val="24323D"/>
                </a:solidFill>
                <a:latin typeface="Arial"/>
              </a:defRPr>
            </a:pPr>
            <a:r>
              <a:t>• Objectif : estimer, suivre et prévoir la RND, puis l’utiliser pour la couverture.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57400"/>
            <a:ext cx="960120" cy="91440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A5B"/>
                </a:solidFill>
                <a:latin typeface="Arial"/>
              </a:defRPr>
            </a:pPr>
            <a:r>
              <a:t>Options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86600" y="2331720"/>
            <a:ext cx="201168" cy="320040"/>
          </a:xfrm>
          <a:prstGeom prst="rightArrow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51192" y="2057400"/>
            <a:ext cx="960120" cy="91440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A5B"/>
                </a:solidFill>
                <a:latin typeface="Arial"/>
              </a:defRPr>
            </a:pPr>
            <a:r>
              <a:t>RND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11312" y="2331720"/>
            <a:ext cx="201168" cy="320040"/>
          </a:xfrm>
          <a:prstGeom prst="rightArrow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75904" y="2057400"/>
            <a:ext cx="960120" cy="91440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A5B"/>
                </a:solidFill>
                <a:latin typeface="Arial"/>
              </a:defRPr>
            </a:pPr>
            <a:r>
              <a:t>Stabilité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36024" y="2331720"/>
            <a:ext cx="201168" cy="320040"/>
          </a:xfrm>
          <a:prstGeom prst="rightArrow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0616" y="2057400"/>
            <a:ext cx="960120" cy="91440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A5B"/>
                </a:solidFill>
                <a:latin typeface="Arial"/>
              </a:defRPr>
            </a:pPr>
            <a:r>
              <a:t>Prévision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460736" y="2331720"/>
            <a:ext cx="201168" cy="320040"/>
          </a:xfrm>
          <a:prstGeom prst="rightArrow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25328" y="2057400"/>
            <a:ext cx="960120" cy="91440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53A5B"/>
                </a:solidFill>
                <a:latin typeface="Arial"/>
              </a:defRPr>
            </a:pPr>
            <a:r>
              <a:t>Couverture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2. Données et accès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1,446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contrats SPX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46888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1,277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cotations valides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246888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338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points de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234440"/>
            <a:ext cx="246888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91 jours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échéance 15/01/2027</a:t>
            </a:r>
          </a:p>
        </p:txBody>
      </p:sp>
      <p:pic>
        <p:nvPicPr>
          <p:cNvPr id="10" name="Picture 9" descr="01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658368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35240" y="2743200"/>
            <a:ext cx="3794760" cy="3017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4323D"/>
                </a:solidFill>
                <a:latin typeface="Arial"/>
              </a:defRPr>
            </a:pPr>
            <a:r>
              <a:t>• Cboe public différé : accès confirmé.</a:t>
            </a:r>
          </a:p>
          <a:p>
            <a:pPr>
              <a:spcAft>
                <a:spcPts val="1000"/>
              </a:spcAft>
              <a:defRPr sz="1500">
                <a:solidFill>
                  <a:srgbClr val="24323D"/>
                </a:solidFill>
                <a:latin typeface="Arial"/>
              </a:defRPr>
            </a:pPr>
            <a:r>
              <a:t>• Bloomberg : terminal/API absent ici.</a:t>
            </a:r>
          </a:p>
          <a:p>
            <a:pPr>
              <a:spcAft>
                <a:spcPts val="1000"/>
              </a:spcAft>
              <a:defRPr sz="1500">
                <a:solidFill>
                  <a:srgbClr val="24323D"/>
                </a:solidFill>
                <a:latin typeface="Arial"/>
              </a:defRPr>
            </a:pPr>
            <a:r>
              <a:t>• Historique : export école, OptionMetrics ou DataShop requis.</a:t>
            </a:r>
          </a:p>
          <a:p>
            <a:pPr>
              <a:spcAft>
                <a:spcPts val="1000"/>
              </a:spcAft>
              <a:defRPr sz="1500">
                <a:solidFill>
                  <a:srgbClr val="24323D"/>
                </a:solidFill>
                <a:latin typeface="Arial"/>
              </a:defRPr>
            </a:pPr>
            <a:r>
              <a:t>• Mid bid-ask préféré au last price souvent ancien.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3. Pipeline de nettoyage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4/10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051560"/>
            <a:ext cx="566928" cy="566928"/>
          </a:xfrm>
          <a:prstGeom prst="ellipse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33271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4323D"/>
                </a:solidFill>
                <a:latin typeface="Arial"/>
              </a:defRPr>
            </a:pPr>
            <a:r>
              <a:t>Sélection échéance ≈ 3 mois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9339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4323D"/>
                </a:solidFill>
                <a:latin typeface="Arial"/>
              </a:defRPr>
            </a:pPr>
            <a:r>
              <a:t>Contrôles bid–ask et spreads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71800"/>
            <a:ext cx="566928" cy="566928"/>
          </a:xfrm>
          <a:prstGeom prst="ellipse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5351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4323D"/>
                </a:solidFill>
                <a:latin typeface="Arial"/>
              </a:defRPr>
            </a:pPr>
            <a:r>
              <a:t>Parité call-put : F et 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1363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4323D"/>
                </a:solidFill>
                <a:latin typeface="Arial"/>
              </a:defRPr>
            </a:pPr>
            <a:r>
              <a:t>OTM calls + puts synthétiques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7375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4323D"/>
                </a:solidFill>
                <a:latin typeface="Arial"/>
              </a:defRPr>
            </a:pPr>
            <a:r>
              <a:t>Grille commune log(K/F)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4663440" cy="33832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Exclus : bid nul, marché croisé, spread relatif &gt; 35 %.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Volume et open interest conservés comme diagnostics.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Tous les seuils seront testés en sensibilité.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4. Calibration commune : SVI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5/10</a:t>
            </a:r>
          </a:p>
        </p:txBody>
      </p:sp>
      <p:pic>
        <p:nvPicPr>
          <p:cNvPr id="6" name="Picture 5" descr="02_svi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417320"/>
            <a:ext cx="3611880" cy="41148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5 paramètres pour toute la coupe de strikes.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Forward estimé : 7,755.9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Taux continu implicite : 4.69 %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RMSE des calls : 1.144 point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ρ = -0.051 ; σ = 0.268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5. Breeden–Litzenberger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6/10</a:t>
            </a:r>
          </a:p>
        </p:txBody>
      </p:sp>
      <p:pic>
        <p:nvPicPr>
          <p:cNvPr id="6" name="Picture 5" descr="03_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81228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325880"/>
            <a:ext cx="3657600" cy="96012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153A5B"/>
                </a:solidFill>
                <a:latin typeface="Arial"/>
              </a:defRPr>
            </a:pPr>
            <a:r>
              <a:t>q(K,T) = (1/D) × ∂²C/∂K²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651760"/>
            <a:ext cx="3474720" cy="2743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Dérivation de la courbe lissée, pas des prix bruts.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Grille régulière de 1 601 strikes.</a:t>
            </a:r>
          </a:p>
          <a:p>
            <a:pPr>
              <a:spcAft>
                <a:spcPts val="1000"/>
              </a:spcAft>
              <a:defRPr sz="1700">
                <a:solidFill>
                  <a:srgbClr val="24323D"/>
                </a:solidFill>
                <a:latin typeface="Arial"/>
              </a:defRPr>
            </a:pPr>
            <a:r>
              <a:t>• Contrôles : masse, positivité, moyenne et convexité.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6. Première densité risque-neutre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7/10</a:t>
            </a:r>
          </a:p>
        </p:txBody>
      </p:sp>
      <p:pic>
        <p:nvPicPr>
          <p:cNvPr id="6" name="Picture 5" descr="04_risk_neutral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949440" cy="4617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325880"/>
            <a:ext cx="310896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0.9953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masse brute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651760"/>
            <a:ext cx="310896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7,776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moyenne normalisée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77639"/>
            <a:ext cx="310896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153A5B"/>
                </a:solidFill>
                <a:latin typeface="Arial"/>
              </a:defRPr>
            </a:pPr>
            <a:r>
              <a:t>0.000117</a:t>
            </a:r>
          </a:p>
          <a:p>
            <a:pPr algn="ctr">
              <a:defRPr sz="1000">
                <a:solidFill>
                  <a:srgbClr val="60717D"/>
                </a:solidFill>
                <a:latin typeface="Arial"/>
              </a:defRPr>
            </a:pPr>
            <a:r>
              <a:t>masse négative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5349240"/>
            <a:ext cx="3566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07A3F"/>
                </a:solidFill>
                <a:latin typeface="Arial"/>
              </a:defRPr>
            </a:pPr>
            <a:r>
              <a:t>Aucune négativité matérielle &gt; 0,1 % du pic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7. Structure par terme des RND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8/10</a:t>
            </a:r>
          </a:p>
        </p:txBody>
      </p:sp>
      <p:pic>
        <p:nvPicPr>
          <p:cNvPr id="6" name="Picture 5" descr="05_rnd_surface_3d_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7452360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1325880"/>
            <a:ext cx="3429000" cy="4297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rial"/>
              </a:defRPr>
            </a:pPr>
            <a:r>
              <a:t>• Six maturités : 31 à 182 jours.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rial"/>
              </a:defRPr>
            </a:pPr>
            <a:r>
              <a:t>• Grille commune de log-moneyness.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rial"/>
              </a:defRPr>
            </a:pPr>
            <a:r>
              <a:t>• La densité s’élargit avec l’horizon.</a:t>
            </a:r>
          </a:p>
          <a:p>
            <a:pPr>
              <a:spcAft>
                <a:spcPts val="1000"/>
              </a:spcAft>
              <a:defRPr sz="1600">
                <a:solidFill>
                  <a:srgbClr val="24323D"/>
                </a:solidFill>
                <a:latin typeface="Arial"/>
              </a:defRPr>
            </a:pPr>
            <a:r>
              <a:t>• Il s’agit d’une structure par terme à date fixe, pas encore d’une dynamique temporelle.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8. Validation et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5212080" cy="25603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4323D"/>
                </a:solidFill>
                <a:latin typeface="Arial"/>
              </a:defRPr>
            </a:pPr>
            <a:r>
              <a:t>• Calcul BL réimplémenté en Julia 1.10.10 sans package externe.</a:t>
            </a:r>
          </a:p>
          <a:p>
            <a:pPr>
              <a:spcAft>
                <a:spcPts val="1000"/>
              </a:spcAft>
              <a:defRPr sz="1900">
                <a:solidFill>
                  <a:srgbClr val="24323D"/>
                </a:solidFill>
                <a:latin typeface="Arial"/>
              </a:defRPr>
            </a:pPr>
            <a:r>
              <a:t>• Écart moyen Python–Julia : 3,3 × 10^-9.</a:t>
            </a:r>
          </a:p>
          <a:p>
            <a:pPr>
              <a:spcAft>
                <a:spcPts val="1000"/>
              </a:spcAft>
              <a:defRPr sz="1900">
                <a:solidFill>
                  <a:srgbClr val="24323D"/>
                </a:solidFill>
                <a:latin typeface="Arial"/>
              </a:defRPr>
            </a:pPr>
            <a:r>
              <a:t>• Écart maximal aux bords : 2,1 × 10^-6.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4754880" cy="34747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07A3F"/>
                </a:solidFill>
                <a:latin typeface="Arial"/>
              </a:defRPr>
            </a:pPr>
            <a:r>
              <a:t>• Pas encore d’historique quotidien.</a:t>
            </a:r>
          </a:p>
          <a:p>
            <a:pPr>
              <a:spcAft>
                <a:spcPts val="1000"/>
              </a:spcAft>
              <a:defRPr sz="1800">
                <a:solidFill>
                  <a:srgbClr val="E07A3F"/>
                </a:solidFill>
                <a:latin typeface="Arial"/>
              </a:defRPr>
            </a:pPr>
            <a:r>
              <a:t>• Seuil de spread à tester.</a:t>
            </a:r>
          </a:p>
          <a:p>
            <a:pPr>
              <a:spcAft>
                <a:spcPts val="1000"/>
              </a:spcAft>
              <a:defRPr sz="1800">
                <a:solidFill>
                  <a:srgbClr val="E07A3F"/>
                </a:solidFill>
                <a:latin typeface="Arial"/>
              </a:defRPr>
            </a:pPr>
            <a:r>
              <a:t>• SVI brute pas totalement sans arbitrage butterfly.</a:t>
            </a:r>
          </a:p>
          <a:p>
            <a:pPr>
              <a:spcAft>
                <a:spcPts val="1000"/>
              </a:spcAft>
              <a:defRPr sz="1800">
                <a:solidFill>
                  <a:srgbClr val="E07A3F"/>
                </a:solidFill>
                <a:latin typeface="Arial"/>
              </a:defRPr>
            </a:pPr>
            <a:r>
              <a:t>• Besoin d’une maturité constante pour la dynamique.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251960"/>
            <a:ext cx="9966960" cy="1051560"/>
          </a:xfrm>
          <a:prstGeom prst="roundRect">
            <a:avLst/>
          </a:prstGeom>
          <a:solidFill>
            <a:srgbClr val="EAF2F6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53A5B"/>
                </a:solidFill>
                <a:latin typeface="Arial"/>
              </a:defRPr>
            </a:pPr>
            <a:r>
              <a:t>Conclusion technique : pipeline reproductible validé ; profondeur historique encore à sécuriser.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53A5B"/>
                </a:solidFill>
                <a:latin typeface="Arial"/>
              </a:defRPr>
            </a:pPr>
            <a:r>
              <a:t>9. Prochaines étapes et décisions attendues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717D"/>
                </a:solidFill>
                <a:latin typeface="Arial"/>
              </a:defRPr>
            </a:pPr>
            <a:r>
              <a:t>Projet PI² n°176 — Suivi n°1    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486400" cy="4389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Obtenir un historique SPX quotidien à maturité ≈ 3 mois.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Comparer BL, Fourier-cosinus et distorsion historique.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Mesurer stabilité : KL, Jensen–Shannon, Wasserstein.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Réduire les RND en facteurs, puis prévoir par AR/VAR.</a:t>
            </a:r>
          </a:p>
          <a:p>
            <a:pPr>
              <a:spcAft>
                <a:spcPts val="1000"/>
              </a:spcAft>
              <a:defRPr sz="1800">
                <a:solidFill>
                  <a:srgbClr val="24323D"/>
                </a:solidFill>
                <a:latin typeface="Arial"/>
              </a:defRPr>
            </a:pPr>
            <a:r>
              <a:t>• Comparer les erreurs de couverture nettes de coûts.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480560" cy="3200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53A5B"/>
                </a:solidFill>
                <a:latin typeface="Arial"/>
              </a:defRPr>
            </a:pPr>
            <a:r>
              <a:t>• Accès historique à utiliser ?</a:t>
            </a:r>
          </a:p>
          <a:p>
            <a:pPr>
              <a:spcAft>
                <a:spcPts val="1000"/>
              </a:spcAft>
              <a:defRPr sz="1900">
                <a:solidFill>
                  <a:srgbClr val="153A5B"/>
                </a:solidFill>
                <a:latin typeface="Arial"/>
              </a:defRPr>
            </a:pPr>
            <a:r>
              <a:t>• Maturité constante validée ?</a:t>
            </a:r>
          </a:p>
          <a:p>
            <a:pPr>
              <a:spcAft>
                <a:spcPts val="1000"/>
              </a:spcAft>
              <a:defRPr sz="1900">
                <a:solidFill>
                  <a:srgbClr val="153A5B"/>
                </a:solidFill>
                <a:latin typeface="Arial"/>
              </a:defRPr>
            </a:pPr>
            <a:r>
              <a:t>• Trois méthodes intégrales attendues ?</a:t>
            </a:r>
          </a:p>
          <a:p>
            <a:pPr>
              <a:spcAft>
                <a:spcPts val="1000"/>
              </a:spcAft>
              <a:defRPr sz="1900">
                <a:solidFill>
                  <a:srgbClr val="153A5B"/>
                </a:solidFill>
                <a:latin typeface="Arial"/>
              </a:defRPr>
            </a:pPr>
            <a:r>
              <a:t>• Couverture prioritaire au trading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709160"/>
            <a:ext cx="4297680" cy="868680"/>
          </a:xfrm>
          <a:prstGeom prst="round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FFFF"/>
                </a:solidFill>
                <a:latin typeface="Arial"/>
              </a:defRPr>
            </a:pPr>
            <a:r>
              <a:t>Objectif suivant : une série temporelle de RND comparables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